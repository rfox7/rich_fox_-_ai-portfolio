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6" r:id="rId9"/>
    <p:sldId id="263" r:id="rId10"/>
    <p:sldId id="264" r:id="rId11"/>
    <p:sldId id="267" r:id="rId12"/>
    <p:sldId id="268" r:id="rId13"/>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86" d="100"/>
          <a:sy n="86" d="100"/>
        </p:scale>
        <p:origin x="730"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072E9-DD20-4F08-AA3B-FFEE2D1BB631}" type="datetimeFigureOut">
              <a:rPr lang="en-US" smtClean="0"/>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E30A8-A561-4A57-9332-F9D074C417F3}" type="slidenum">
              <a:rPr lang="en-US" smtClean="0"/>
              <a:t>‹#›</a:t>
            </a:fld>
            <a:endParaRPr lang="en-US"/>
          </a:p>
        </p:txBody>
      </p:sp>
    </p:spTree>
    <p:extLst>
      <p:ext uri="{BB962C8B-B14F-4D97-AF65-F5344CB8AC3E}">
        <p14:creationId xmlns:p14="http://schemas.microsoft.com/office/powerpoint/2010/main" val="507814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Rich Fox, and this is my Tier 2 computer vision project: Real-Time License Plate Detection. The system uses YOLOv8 for object detection paired with EasyOCR to read plates from live video feeds. I'll walk you through the problem, the architecture, and how it performed.</a:t>
            </a:r>
          </a:p>
        </p:txBody>
      </p:sp>
      <p:sp>
        <p:nvSpPr>
          <p:cNvPr id="4" name="Slide Number Placeholder 3"/>
          <p:cNvSpPr>
            <a:spLocks noGrp="1"/>
          </p:cNvSpPr>
          <p:nvPr>
            <p:ph type="sldNum" sz="quarter" idx="5"/>
          </p:nvPr>
        </p:nvSpPr>
        <p:spPr/>
        <p:txBody>
          <a:bodyPr/>
          <a:lstStyle/>
          <a:p>
            <a:fld id="{73AE30A8-A561-4A57-9332-F9D074C417F3}" type="slidenum">
              <a:rPr lang="en-US" smtClean="0"/>
              <a:t>1</a:t>
            </a:fld>
            <a:endParaRPr lang="en-US"/>
          </a:p>
        </p:txBody>
      </p:sp>
    </p:spTree>
    <p:extLst>
      <p:ext uri="{BB962C8B-B14F-4D97-AF65-F5344CB8AC3E}">
        <p14:creationId xmlns:p14="http://schemas.microsoft.com/office/powerpoint/2010/main" val="790986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vehicle monitoring is slow, expensive, and error-prone. Think about three real-world areas: traffic monitoring, toll collection, and security. In each case, humans just can't keep up with the volume of vehicles — and the consequences of missing a plate can be significant. That's the gap this project addresses.</a:t>
            </a:r>
          </a:p>
        </p:txBody>
      </p:sp>
      <p:sp>
        <p:nvSpPr>
          <p:cNvPr id="4" name="Slide Number Placeholder 3"/>
          <p:cNvSpPr>
            <a:spLocks noGrp="1"/>
          </p:cNvSpPr>
          <p:nvPr>
            <p:ph type="sldNum" sz="quarter" idx="5"/>
          </p:nvPr>
        </p:nvSpPr>
        <p:spPr/>
        <p:txBody>
          <a:bodyPr/>
          <a:lstStyle/>
          <a:p>
            <a:fld id="{73AE30A8-A561-4A57-9332-F9D074C417F3}" type="slidenum">
              <a:rPr lang="en-US" smtClean="0"/>
              <a:t>2</a:t>
            </a:fld>
            <a:endParaRPr lang="en-US"/>
          </a:p>
        </p:txBody>
      </p:sp>
    </p:spTree>
    <p:extLst>
      <p:ext uri="{BB962C8B-B14F-4D97-AF65-F5344CB8AC3E}">
        <p14:creationId xmlns:p14="http://schemas.microsoft.com/office/powerpoint/2010/main" val="1269015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 fully automated pipeline that detects and reads license plates in real-time from video. It uses lightweight object detection to find the plate, crops and cleans the image, and then OCR extracts the actual plate characters. The goal was to make this fast enough to run on edge hardware, not just a server.</a:t>
            </a:r>
          </a:p>
        </p:txBody>
      </p:sp>
      <p:sp>
        <p:nvSpPr>
          <p:cNvPr id="4" name="Slide Number Placeholder 3"/>
          <p:cNvSpPr>
            <a:spLocks noGrp="1"/>
          </p:cNvSpPr>
          <p:nvPr>
            <p:ph type="sldNum" sz="quarter" idx="5"/>
          </p:nvPr>
        </p:nvSpPr>
        <p:spPr/>
        <p:txBody>
          <a:bodyPr/>
          <a:lstStyle/>
          <a:p>
            <a:fld id="{73AE30A8-A561-4A57-9332-F9D074C417F3}" type="slidenum">
              <a:rPr lang="en-US" smtClean="0"/>
              <a:t>3</a:t>
            </a:fld>
            <a:endParaRPr lang="en-US"/>
          </a:p>
        </p:txBody>
      </p:sp>
    </p:spTree>
    <p:extLst>
      <p:ext uri="{BB962C8B-B14F-4D97-AF65-F5344CB8AC3E}">
        <p14:creationId xmlns:p14="http://schemas.microsoft.com/office/powerpoint/2010/main" val="3630622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YOLOv8 Nano for three reasons. First, it's the smallest variant in the family — it can run at real-time frame rates even on low-end GPUs or edge devices. Second, it has anchor-free design, which makes it significantly better at detecting small, angled objects like license plates at a distance. Third, it hits the sweet spot between memory footprint and accuracy compared to older models like V5 or V7.</a:t>
            </a:r>
          </a:p>
        </p:txBody>
      </p:sp>
      <p:sp>
        <p:nvSpPr>
          <p:cNvPr id="4" name="Slide Number Placeholder 3"/>
          <p:cNvSpPr>
            <a:spLocks noGrp="1"/>
          </p:cNvSpPr>
          <p:nvPr>
            <p:ph type="sldNum" sz="quarter" idx="5"/>
          </p:nvPr>
        </p:nvSpPr>
        <p:spPr/>
        <p:txBody>
          <a:bodyPr/>
          <a:lstStyle/>
          <a:p>
            <a:fld id="{73AE30A8-A561-4A57-9332-F9D074C417F3}" type="slidenum">
              <a:rPr lang="en-US" smtClean="0"/>
              <a:t>4</a:t>
            </a:fld>
            <a:endParaRPr lang="en-US"/>
          </a:p>
        </p:txBody>
      </p:sp>
    </p:spTree>
    <p:extLst>
      <p:ext uri="{BB962C8B-B14F-4D97-AF65-F5344CB8AC3E}">
        <p14:creationId xmlns:p14="http://schemas.microsoft.com/office/powerpoint/2010/main" val="119701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four stages. Raw video frames come in, YOLOv8 detects and crops the plate region, then EasyOCR reads the characters. I added image enhancement between detection and OCR — sharpening and contrast adjustment — because raw crops from video are often blurry or poorly lit. Finally there's a quality control step that filters out short fragments and fuzzy duplicates.</a:t>
            </a:r>
          </a:p>
        </p:txBody>
      </p:sp>
      <p:sp>
        <p:nvSpPr>
          <p:cNvPr id="4" name="Slide Number Placeholder 3"/>
          <p:cNvSpPr>
            <a:spLocks noGrp="1"/>
          </p:cNvSpPr>
          <p:nvPr>
            <p:ph type="sldNum" sz="quarter" idx="5"/>
          </p:nvPr>
        </p:nvSpPr>
        <p:spPr/>
        <p:txBody>
          <a:bodyPr/>
          <a:lstStyle/>
          <a:p>
            <a:fld id="{73AE30A8-A561-4A57-9332-F9D074C417F3}" type="slidenum">
              <a:rPr lang="en-US" smtClean="0"/>
              <a:t>5</a:t>
            </a:fld>
            <a:endParaRPr lang="en-US"/>
          </a:p>
        </p:txBody>
      </p:sp>
    </p:spTree>
    <p:extLst>
      <p:ext uri="{BB962C8B-B14F-4D97-AF65-F5344CB8AC3E}">
        <p14:creationId xmlns:p14="http://schemas.microsoft.com/office/powerpoint/2010/main" val="3585672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all together: raw video goes into YOLO detection and extraction, then through ROI enhancement and cropping, then EasyOCR text recognition, then fuzzy deduplication, and finally structured storage as a Parquet file. The confidence threshold is set at 50%, and the deduplication window is 15 minutes — so the same plate won't be logged twice in a short period.</a:t>
            </a:r>
          </a:p>
        </p:txBody>
      </p:sp>
      <p:sp>
        <p:nvSpPr>
          <p:cNvPr id="4" name="Slide Number Placeholder 3"/>
          <p:cNvSpPr>
            <a:spLocks noGrp="1"/>
          </p:cNvSpPr>
          <p:nvPr>
            <p:ph type="sldNum" sz="quarter" idx="5"/>
          </p:nvPr>
        </p:nvSpPr>
        <p:spPr/>
        <p:txBody>
          <a:bodyPr/>
          <a:lstStyle/>
          <a:p>
            <a:fld id="{73AE30A8-A561-4A57-9332-F9D074C417F3}" type="slidenum">
              <a:rPr lang="en-US" smtClean="0"/>
              <a:t>6</a:t>
            </a:fld>
            <a:endParaRPr lang="en-US"/>
          </a:p>
        </p:txBody>
      </p:sp>
    </p:spTree>
    <p:extLst>
      <p:ext uri="{BB962C8B-B14F-4D97-AF65-F5344CB8AC3E}">
        <p14:creationId xmlns:p14="http://schemas.microsoft.com/office/powerpoint/2010/main" val="28972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show the system running live on actual video footage. Watch how it detects the plate bounding box, crops it, and outputs the recognized text with a confidence score.</a:t>
            </a:r>
          </a:p>
        </p:txBody>
      </p:sp>
      <p:sp>
        <p:nvSpPr>
          <p:cNvPr id="4" name="Slide Number Placeholder 3"/>
          <p:cNvSpPr>
            <a:spLocks noGrp="1"/>
          </p:cNvSpPr>
          <p:nvPr>
            <p:ph type="sldNum" sz="quarter" idx="5"/>
          </p:nvPr>
        </p:nvSpPr>
        <p:spPr/>
        <p:txBody>
          <a:bodyPr/>
          <a:lstStyle/>
          <a:p>
            <a:fld id="{73AE30A8-A561-4A57-9332-F9D074C417F3}" type="slidenum">
              <a:rPr lang="en-US" smtClean="0"/>
              <a:t>7</a:t>
            </a:fld>
            <a:endParaRPr lang="en-US"/>
          </a:p>
        </p:txBody>
      </p:sp>
    </p:spTree>
    <p:extLst>
      <p:ext uri="{BB962C8B-B14F-4D97-AF65-F5344CB8AC3E}">
        <p14:creationId xmlns:p14="http://schemas.microsoft.com/office/powerpoint/2010/main" val="167223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numbers: the model achieved a precision of 0.94 and recall of 0.89, which means it's finding almost all the plates and flagging very few false positives. The </a:t>
            </a:r>
            <a:r>
              <a:rPr lang="en-US" dirty="0" err="1"/>
              <a:t>mAP</a:t>
            </a:r>
            <a:r>
              <a:rPr lang="en-US" dirty="0"/>
              <a:t> at 50% </a:t>
            </a:r>
            <a:r>
              <a:rPr lang="en-US" dirty="0" err="1"/>
              <a:t>IoU</a:t>
            </a:r>
            <a:r>
              <a:rPr lang="en-US" dirty="0"/>
              <a:t> threshold came in at 0.90 — that's strong detection performance. The mAP50-95 of 0.55 is lower, which is expected — that metric is much stricter, averaging across tighter overlap thresholds.</a:t>
            </a:r>
          </a:p>
        </p:txBody>
      </p:sp>
      <p:sp>
        <p:nvSpPr>
          <p:cNvPr id="4" name="Slide Number Placeholder 3"/>
          <p:cNvSpPr>
            <a:spLocks noGrp="1"/>
          </p:cNvSpPr>
          <p:nvPr>
            <p:ph type="sldNum" sz="quarter" idx="5"/>
          </p:nvPr>
        </p:nvSpPr>
        <p:spPr/>
        <p:txBody>
          <a:bodyPr/>
          <a:lstStyle/>
          <a:p>
            <a:fld id="{73AE30A8-A561-4A57-9332-F9D074C417F3}" type="slidenum">
              <a:rPr lang="en-US" smtClean="0"/>
              <a:t>8</a:t>
            </a:fld>
            <a:endParaRPr lang="en-US"/>
          </a:p>
        </p:txBody>
      </p:sp>
    </p:spTree>
    <p:extLst>
      <p:ext uri="{BB962C8B-B14F-4D97-AF65-F5344CB8AC3E}">
        <p14:creationId xmlns:p14="http://schemas.microsoft.com/office/powerpoint/2010/main" val="571322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ran it against real test videos, out of 21 total detections, 18 were good reads. The system handled standard plates well. Where it struggled was foreign plates and heavily stylized Texas plates — those had lower success rates, which makes sense given the training data was predominantly standard US formats. These failure cases actually point directly to how the model could be improved with more diverse training data.</a:t>
            </a:r>
          </a:p>
        </p:txBody>
      </p:sp>
      <p:sp>
        <p:nvSpPr>
          <p:cNvPr id="4" name="Slide Number Placeholder 3"/>
          <p:cNvSpPr>
            <a:spLocks noGrp="1"/>
          </p:cNvSpPr>
          <p:nvPr>
            <p:ph type="sldNum" sz="quarter" idx="5"/>
          </p:nvPr>
        </p:nvSpPr>
        <p:spPr/>
        <p:txBody>
          <a:bodyPr/>
          <a:lstStyle/>
          <a:p>
            <a:fld id="{73AE30A8-A561-4A57-9332-F9D074C417F3}" type="slidenum">
              <a:rPr lang="en-US" smtClean="0"/>
              <a:t>9</a:t>
            </a:fld>
            <a:endParaRPr lang="en-US"/>
          </a:p>
        </p:txBody>
      </p:sp>
    </p:spTree>
    <p:extLst>
      <p:ext uri="{BB962C8B-B14F-4D97-AF65-F5344CB8AC3E}">
        <p14:creationId xmlns:p14="http://schemas.microsoft.com/office/powerpoint/2010/main" val="3594069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Kaggle and Google </a:t>
            </a:r>
            <a:r>
              <a:rPr lang="en-US" dirty="0" err="1"/>
              <a:t>Colab</a:t>
            </a:r>
            <a:r>
              <a:rPr lang="en-US" dirty="0"/>
              <a:t> for GPU compute, </a:t>
            </a:r>
            <a:r>
              <a:rPr lang="en-US" dirty="0" err="1"/>
              <a:t>NotebookLM</a:t>
            </a:r>
            <a:r>
              <a:rPr lang="en-US" dirty="0"/>
              <a:t> and ChatGPT for technical drafting and debugging. The training data came from a </a:t>
            </a:r>
            <a:r>
              <a:rPr lang="en-US" dirty="0" err="1"/>
              <a:t>Roboflow</a:t>
            </a:r>
            <a:r>
              <a:rPr lang="en-US" dirty="0"/>
              <a:t> ANPR dataset under a Creative Commons license."</a:t>
            </a:r>
          </a:p>
        </p:txBody>
      </p:sp>
      <p:sp>
        <p:nvSpPr>
          <p:cNvPr id="4" name="Slide Number Placeholder 3"/>
          <p:cNvSpPr>
            <a:spLocks noGrp="1"/>
          </p:cNvSpPr>
          <p:nvPr>
            <p:ph type="sldNum" sz="quarter" idx="5"/>
          </p:nvPr>
        </p:nvSpPr>
        <p:spPr/>
        <p:txBody>
          <a:bodyPr/>
          <a:lstStyle/>
          <a:p>
            <a:fld id="{73AE30A8-A561-4A57-9332-F9D074C417F3}" type="slidenum">
              <a:rPr lang="en-US" smtClean="0"/>
              <a:t>10</a:t>
            </a:fld>
            <a:endParaRPr lang="en-US"/>
          </a:p>
        </p:txBody>
      </p:sp>
    </p:spTree>
    <p:extLst>
      <p:ext uri="{BB962C8B-B14F-4D97-AF65-F5344CB8AC3E}">
        <p14:creationId xmlns:p14="http://schemas.microsoft.com/office/powerpoint/2010/main" val="597293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0BCDB-B810-D13A-0AC2-3D2400D99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9B20D-BF7F-1FF5-164F-ED3E145DD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56DB8-07B9-CFA1-69AE-616817F318F5}"/>
              </a:ext>
            </a:extLst>
          </p:cNvPr>
          <p:cNvSpPr>
            <a:spLocks noGrp="1"/>
          </p:cNvSpPr>
          <p:nvPr>
            <p:ph type="body" idx="1"/>
          </p:nvPr>
        </p:nvSpPr>
        <p:spPr/>
        <p:txBody>
          <a:bodyPr/>
          <a:lstStyle/>
          <a:p>
            <a:r>
              <a:rPr lang="en-US" dirty="0"/>
              <a:t>Now I'll show the system running live on actual video footage. Watch how it detects the plate bounding box, crops it, and outputs the recognized text with a confidence score.</a:t>
            </a:r>
          </a:p>
        </p:txBody>
      </p:sp>
      <p:sp>
        <p:nvSpPr>
          <p:cNvPr id="4" name="Slide Number Placeholder 3">
            <a:extLst>
              <a:ext uri="{FF2B5EF4-FFF2-40B4-BE49-F238E27FC236}">
                <a16:creationId xmlns:a16="http://schemas.microsoft.com/office/drawing/2014/main" id="{7070B8A1-4429-EE99-A2D7-8632ABC0F4F3}"/>
              </a:ext>
            </a:extLst>
          </p:cNvPr>
          <p:cNvSpPr>
            <a:spLocks noGrp="1"/>
          </p:cNvSpPr>
          <p:nvPr>
            <p:ph type="sldNum" sz="quarter" idx="5"/>
          </p:nvPr>
        </p:nvSpPr>
        <p:spPr/>
        <p:txBody>
          <a:bodyPr/>
          <a:lstStyle/>
          <a:p>
            <a:fld id="{73AE30A8-A561-4A57-9332-F9D074C417F3}" type="slidenum">
              <a:rPr lang="en-US" smtClean="0"/>
              <a:t>11</a:t>
            </a:fld>
            <a:endParaRPr lang="en-US"/>
          </a:p>
        </p:txBody>
      </p:sp>
    </p:spTree>
    <p:extLst>
      <p:ext uri="{BB962C8B-B14F-4D97-AF65-F5344CB8AC3E}">
        <p14:creationId xmlns:p14="http://schemas.microsoft.com/office/powerpoint/2010/main" val="3083296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2D6DA-A9F0-6350-4172-FB761C50F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3A108-EDD1-C3D0-8784-DC182BDBD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B0BCC-75AE-00D6-B602-3B0872713951}"/>
              </a:ext>
            </a:extLst>
          </p:cNvPr>
          <p:cNvSpPr>
            <a:spLocks noGrp="1"/>
          </p:cNvSpPr>
          <p:nvPr>
            <p:ph type="body" idx="1"/>
          </p:nvPr>
        </p:nvSpPr>
        <p:spPr/>
        <p:txBody>
          <a:bodyPr/>
          <a:lstStyle/>
          <a:p>
            <a:r>
              <a:rPr lang="en-US" dirty="0"/>
              <a:t>Now I'll show the system running live on actual video footage. Watch how it detects the plate bounding box, crops it, and outputs the recognized text with a confidence score.</a:t>
            </a:r>
          </a:p>
        </p:txBody>
      </p:sp>
      <p:sp>
        <p:nvSpPr>
          <p:cNvPr id="4" name="Slide Number Placeholder 3">
            <a:extLst>
              <a:ext uri="{FF2B5EF4-FFF2-40B4-BE49-F238E27FC236}">
                <a16:creationId xmlns:a16="http://schemas.microsoft.com/office/drawing/2014/main" id="{046AB4CC-9CAD-65EB-EB80-B2E8DD40E846}"/>
              </a:ext>
            </a:extLst>
          </p:cNvPr>
          <p:cNvSpPr>
            <a:spLocks noGrp="1"/>
          </p:cNvSpPr>
          <p:nvPr>
            <p:ph type="sldNum" sz="quarter" idx="5"/>
          </p:nvPr>
        </p:nvSpPr>
        <p:spPr/>
        <p:txBody>
          <a:bodyPr/>
          <a:lstStyle/>
          <a:p>
            <a:fld id="{73AE30A8-A561-4A57-9332-F9D074C417F3}" type="slidenum">
              <a:rPr lang="en-US" smtClean="0"/>
              <a:t>12</a:t>
            </a:fld>
            <a:endParaRPr lang="en-US"/>
          </a:p>
        </p:txBody>
      </p:sp>
    </p:spTree>
    <p:extLst>
      <p:ext uri="{BB962C8B-B14F-4D97-AF65-F5344CB8AC3E}">
        <p14:creationId xmlns:p14="http://schemas.microsoft.com/office/powerpoint/2010/main" val="3246882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fox7/Rich_Fox_-_AI-Portfolio/tree/main/Computer%20Vision/Object_Detection_Project"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61" y="-377190"/>
            <a:ext cx="17871122" cy="99745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extLst>
              <a:ext uri="{28A0092B-C50C-407E-A947-70E740481C1C}">
                <a14:useLocalDpi xmlns:a14="http://schemas.microsoft.com/office/drawing/2010/main" val="0"/>
              </a:ext>
            </a:extLst>
          </a:blip>
          <a:srcRect/>
          <a:stretch/>
        </p:blipFill>
        <p:spPr>
          <a:xfrm>
            <a:off x="4762" y="38100"/>
            <a:ext cx="16246475"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extLst>
              <a:ext uri="{28A0092B-C50C-407E-A947-70E740481C1C}">
                <a14:useLocalDpi xmlns:a14="http://schemas.microsoft.com/office/drawing/2010/main" val="0"/>
              </a:ext>
            </a:extLst>
          </a:blip>
          <a:srcRect/>
          <a:stretch/>
        </p:blipFill>
        <p:spPr>
          <a:xfrm>
            <a:off x="4762" y="38100"/>
            <a:ext cx="16246475"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extLst>
              <a:ext uri="{28A0092B-C50C-407E-A947-70E740481C1C}">
                <a14:useLocalDpi xmlns:a14="http://schemas.microsoft.com/office/drawing/2010/main" val="0"/>
              </a:ext>
            </a:extLst>
          </a:blip>
          <a:srcRect/>
          <a:stretch/>
        </p:blipFill>
        <p:spPr>
          <a:xfrm>
            <a:off x="4762" y="38100"/>
            <a:ext cx="16246475"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A5B125-5AFD-0498-306E-D4C53476D671}"/>
              </a:ext>
            </a:extLst>
          </p:cNvPr>
          <p:cNvSpPr/>
          <p:nvPr/>
        </p:nvSpPr>
        <p:spPr>
          <a:xfrm>
            <a:off x="2108200" y="601682"/>
            <a:ext cx="11273352" cy="7940635"/>
          </a:xfrm>
          <a:prstGeom prst="rect">
            <a:avLst/>
          </a:prstGeom>
          <a:noFill/>
        </p:spPr>
        <p:txBody>
          <a:bodyPr wrap="square" lIns="91440" tIns="45720" rIns="91440" bIns="45720">
            <a:spAutoFit/>
          </a:bodyPr>
          <a:lstStyle/>
          <a:p>
            <a:pPr algn="ctr"/>
            <a:r>
              <a:rPr lang="en-US" sz="255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Live Demo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4377E-4FE0-8545-73AC-2DE7A068EC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B9EB9B-1DE4-B84B-30A5-CE97D3802E66}"/>
              </a:ext>
            </a:extLst>
          </p:cNvPr>
          <p:cNvSpPr txBox="1"/>
          <p:nvPr/>
        </p:nvSpPr>
        <p:spPr>
          <a:xfrm>
            <a:off x="4737100" y="152400"/>
            <a:ext cx="6781800" cy="923330"/>
          </a:xfrm>
          <a:prstGeom prst="rect">
            <a:avLst/>
          </a:prstGeom>
          <a:noFill/>
        </p:spPr>
        <p:txBody>
          <a:bodyPr wrap="square" rtlCol="0">
            <a:spAutoFit/>
          </a:bodyPr>
          <a:lstStyle/>
          <a:p>
            <a:r>
              <a:rPr lang="en-US" sz="5400" dirty="0"/>
              <a:t>Performance Metrics</a:t>
            </a:r>
          </a:p>
        </p:txBody>
      </p:sp>
      <p:pic>
        <p:nvPicPr>
          <p:cNvPr id="5" name="Picture 4">
            <a:extLst>
              <a:ext uri="{FF2B5EF4-FFF2-40B4-BE49-F238E27FC236}">
                <a16:creationId xmlns:a16="http://schemas.microsoft.com/office/drawing/2014/main" id="{8DF7E13B-2770-AA89-4810-85E3F11EFC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2400" y="1075730"/>
            <a:ext cx="10650140" cy="5325070"/>
          </a:xfrm>
          <a:prstGeom prst="rect">
            <a:avLst/>
          </a:prstGeom>
        </p:spPr>
      </p:pic>
      <p:sp>
        <p:nvSpPr>
          <p:cNvPr id="6" name="TextBox 5">
            <a:extLst>
              <a:ext uri="{FF2B5EF4-FFF2-40B4-BE49-F238E27FC236}">
                <a16:creationId xmlns:a16="http://schemas.microsoft.com/office/drawing/2014/main" id="{D648D900-4808-A6EB-90A9-7DC28AB035CC}"/>
              </a:ext>
            </a:extLst>
          </p:cNvPr>
          <p:cNvSpPr txBox="1"/>
          <p:nvPr/>
        </p:nvSpPr>
        <p:spPr>
          <a:xfrm>
            <a:off x="558800" y="1447800"/>
            <a:ext cx="3886200" cy="1200329"/>
          </a:xfrm>
          <a:prstGeom prst="rect">
            <a:avLst/>
          </a:prstGeom>
          <a:noFill/>
        </p:spPr>
        <p:txBody>
          <a:bodyPr wrap="square" rtlCol="0">
            <a:spAutoFit/>
          </a:bodyPr>
          <a:lstStyle/>
          <a:p>
            <a:r>
              <a:rPr lang="en-US" b="1" dirty="0"/>
              <a:t>Precision and Recall</a:t>
            </a:r>
          </a:p>
          <a:p>
            <a:pPr marL="285750" indent="-285750">
              <a:buFont typeface="Arial" panose="020B0604020202020204" pitchFamily="34" charset="0"/>
              <a:buChar char="•"/>
            </a:pPr>
            <a:r>
              <a:rPr lang="en-US" b="1" dirty="0"/>
              <a:t>Precision ≈ 0.94</a:t>
            </a:r>
            <a:r>
              <a:rPr lang="en-US" dirty="0"/>
              <a:t> </a:t>
            </a:r>
          </a:p>
          <a:p>
            <a:pPr marL="285750" indent="-285750">
              <a:buFont typeface="Arial" panose="020B0604020202020204" pitchFamily="34" charset="0"/>
              <a:buChar char="•"/>
            </a:pPr>
            <a:r>
              <a:rPr lang="en-US" b="1" dirty="0"/>
              <a:t>Recall ≈ 0.89</a:t>
            </a:r>
            <a:endParaRPr lang="en-US" dirty="0"/>
          </a:p>
          <a:p>
            <a:endParaRPr lang="en-US" dirty="0"/>
          </a:p>
        </p:txBody>
      </p:sp>
      <p:sp>
        <p:nvSpPr>
          <p:cNvPr id="7" name="TextBox 6">
            <a:extLst>
              <a:ext uri="{FF2B5EF4-FFF2-40B4-BE49-F238E27FC236}">
                <a16:creationId xmlns:a16="http://schemas.microsoft.com/office/drawing/2014/main" id="{E11994F8-3256-8836-7670-1C76B1F8AFF9}"/>
              </a:ext>
            </a:extLst>
          </p:cNvPr>
          <p:cNvSpPr txBox="1"/>
          <p:nvPr/>
        </p:nvSpPr>
        <p:spPr>
          <a:xfrm>
            <a:off x="558800" y="3276600"/>
            <a:ext cx="2133600" cy="923330"/>
          </a:xfrm>
          <a:prstGeom prst="rect">
            <a:avLst/>
          </a:prstGeom>
          <a:noFill/>
        </p:spPr>
        <p:txBody>
          <a:bodyPr wrap="square" rtlCol="0">
            <a:spAutoFit/>
          </a:bodyPr>
          <a:lstStyle/>
          <a:p>
            <a:r>
              <a:rPr lang="en-US" b="1" dirty="0" err="1"/>
              <a:t>mAP</a:t>
            </a:r>
            <a:r>
              <a:rPr lang="en-US" b="1" dirty="0"/>
              <a:t> Metrics</a:t>
            </a:r>
          </a:p>
          <a:p>
            <a:pPr marL="285750" indent="-285750">
              <a:buFont typeface="Arial" panose="020B0604020202020204" pitchFamily="34" charset="0"/>
              <a:buChar char="•"/>
            </a:pPr>
            <a:r>
              <a:rPr lang="en-US" b="1" dirty="0"/>
              <a:t>mAP50 ≈ 0.90</a:t>
            </a:r>
            <a:r>
              <a:rPr lang="en-US" dirty="0"/>
              <a:t> </a:t>
            </a:r>
          </a:p>
          <a:p>
            <a:pPr marL="285750" indent="-285750">
              <a:buFont typeface="Arial" panose="020B0604020202020204" pitchFamily="34" charset="0"/>
              <a:buChar char="•"/>
            </a:pPr>
            <a:r>
              <a:rPr lang="en-US" b="1" dirty="0"/>
              <a:t>mAP50-95 ≈ 0.55</a:t>
            </a:r>
            <a:endParaRPr lang="en-US" dirty="0"/>
          </a:p>
        </p:txBody>
      </p:sp>
      <p:pic>
        <p:nvPicPr>
          <p:cNvPr id="9" name="Picture 8">
            <a:extLst>
              <a:ext uri="{FF2B5EF4-FFF2-40B4-BE49-F238E27FC236}">
                <a16:creationId xmlns:a16="http://schemas.microsoft.com/office/drawing/2014/main" id="{6BC50A2D-8FD8-066C-FF25-36655F276B0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400" y="5124450"/>
            <a:ext cx="5359400" cy="4019550"/>
          </a:xfrm>
          <a:prstGeom prst="rect">
            <a:avLst/>
          </a:prstGeom>
        </p:spPr>
      </p:pic>
    </p:spTree>
    <p:extLst>
      <p:ext uri="{BB962C8B-B14F-4D97-AF65-F5344CB8AC3E}">
        <p14:creationId xmlns:p14="http://schemas.microsoft.com/office/powerpoint/2010/main" val="1256718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2B1EC3-1379-971E-0915-C827D7195843}"/>
              </a:ext>
            </a:extLst>
          </p:cNvPr>
          <p:cNvPicPr>
            <a:picLocks noChangeAspect="1"/>
          </p:cNvPicPr>
          <p:nvPr/>
        </p:nvPicPr>
        <p:blipFill>
          <a:blip r:embed="rId3"/>
          <a:stretch>
            <a:fillRect/>
          </a:stretch>
        </p:blipFill>
        <p:spPr>
          <a:xfrm>
            <a:off x="8063436" y="0"/>
            <a:ext cx="8192564" cy="9144000"/>
          </a:xfrm>
          <a:prstGeom prst="rect">
            <a:avLst/>
          </a:prstGeom>
        </p:spPr>
      </p:pic>
      <p:graphicFrame>
        <p:nvGraphicFramePr>
          <p:cNvPr id="5" name="Table 4">
            <a:extLst>
              <a:ext uri="{FF2B5EF4-FFF2-40B4-BE49-F238E27FC236}">
                <a16:creationId xmlns:a16="http://schemas.microsoft.com/office/drawing/2014/main" id="{B5891A28-AAD7-EDA0-095A-6C6D661C29A5}"/>
              </a:ext>
            </a:extLst>
          </p:cNvPr>
          <p:cNvGraphicFramePr>
            <a:graphicFrameLocks noGrp="1"/>
          </p:cNvGraphicFramePr>
          <p:nvPr>
            <p:extLst>
              <p:ext uri="{D42A27DB-BD31-4B8C-83A1-F6EECF244321}">
                <p14:modId xmlns:p14="http://schemas.microsoft.com/office/powerpoint/2010/main" val="4187375512"/>
              </p:ext>
            </p:extLst>
          </p:nvPr>
        </p:nvGraphicFramePr>
        <p:xfrm>
          <a:off x="1193800" y="3733800"/>
          <a:ext cx="4885264" cy="2926080"/>
        </p:xfrm>
        <a:graphic>
          <a:graphicData uri="http://schemas.openxmlformats.org/drawingml/2006/table">
            <a:tbl>
              <a:tblPr firstRow="1" bandRow="1">
                <a:tableStyleId>{5C22544A-7EE6-4342-B048-85BDC9FD1C3A}</a:tableStyleId>
              </a:tblPr>
              <a:tblGrid>
                <a:gridCol w="1981201">
                  <a:extLst>
                    <a:ext uri="{9D8B030D-6E8A-4147-A177-3AD203B41FA5}">
                      <a16:colId xmlns:a16="http://schemas.microsoft.com/office/drawing/2014/main" val="4142991981"/>
                    </a:ext>
                  </a:extLst>
                </a:gridCol>
                <a:gridCol w="762000">
                  <a:extLst>
                    <a:ext uri="{9D8B030D-6E8A-4147-A177-3AD203B41FA5}">
                      <a16:colId xmlns:a16="http://schemas.microsoft.com/office/drawing/2014/main" val="854678017"/>
                    </a:ext>
                  </a:extLst>
                </a:gridCol>
                <a:gridCol w="920747">
                  <a:extLst>
                    <a:ext uri="{9D8B030D-6E8A-4147-A177-3AD203B41FA5}">
                      <a16:colId xmlns:a16="http://schemas.microsoft.com/office/drawing/2014/main" val="2717942850"/>
                    </a:ext>
                  </a:extLst>
                </a:gridCol>
                <a:gridCol w="1221316">
                  <a:extLst>
                    <a:ext uri="{9D8B030D-6E8A-4147-A177-3AD203B41FA5}">
                      <a16:colId xmlns:a16="http://schemas.microsoft.com/office/drawing/2014/main" val="86699268"/>
                    </a:ext>
                  </a:extLst>
                </a:gridCol>
              </a:tblGrid>
              <a:tr h="273191">
                <a:tc>
                  <a:txBody>
                    <a:bodyPr/>
                    <a:lstStyle/>
                    <a:p>
                      <a:endParaRPr lang="en-US" dirty="0"/>
                    </a:p>
                  </a:txBody>
                  <a:tcPr/>
                </a:tc>
                <a:tc>
                  <a:txBody>
                    <a:bodyPr/>
                    <a:lstStyle/>
                    <a:p>
                      <a:r>
                        <a:rPr lang="en-US" dirty="0"/>
                        <a:t>Total</a:t>
                      </a:r>
                    </a:p>
                  </a:txBody>
                  <a:tcPr/>
                </a:tc>
                <a:tc>
                  <a:txBody>
                    <a:bodyPr/>
                    <a:lstStyle/>
                    <a:p>
                      <a:r>
                        <a:rPr lang="en-US" dirty="0"/>
                        <a:t>Good</a:t>
                      </a:r>
                    </a:p>
                  </a:txBody>
                  <a:tcPr/>
                </a:tc>
                <a:tc>
                  <a:txBody>
                    <a:bodyPr/>
                    <a:lstStyle/>
                    <a:p>
                      <a:r>
                        <a:rPr lang="en-US" dirty="0"/>
                        <a:t>Bad</a:t>
                      </a:r>
                    </a:p>
                  </a:txBody>
                  <a:tcPr/>
                </a:tc>
                <a:extLst>
                  <a:ext uri="{0D108BD9-81ED-4DB2-BD59-A6C34878D82A}">
                    <a16:rowId xmlns:a16="http://schemas.microsoft.com/office/drawing/2014/main" val="647660647"/>
                  </a:ext>
                </a:extLst>
              </a:tr>
              <a:tr h="273191">
                <a:tc>
                  <a:txBody>
                    <a:bodyPr/>
                    <a:lstStyle/>
                    <a:p>
                      <a:r>
                        <a:rPr lang="en-US" dirty="0"/>
                        <a:t>Identified License Plate</a:t>
                      </a:r>
                    </a:p>
                  </a:txBody>
                  <a:tcPr/>
                </a:tc>
                <a:tc>
                  <a:txBody>
                    <a:bodyPr/>
                    <a:lstStyle/>
                    <a:p>
                      <a:pPr algn="ctr"/>
                      <a:r>
                        <a:rPr lang="en-US" dirty="0"/>
                        <a:t>21</a:t>
                      </a:r>
                    </a:p>
                  </a:txBody>
                  <a:tcPr anchor="ctr"/>
                </a:tc>
                <a:tc>
                  <a:txBody>
                    <a:bodyPr/>
                    <a:lstStyle/>
                    <a:p>
                      <a:pPr algn="ctr"/>
                      <a:r>
                        <a:rPr lang="en-US" dirty="0"/>
                        <a:t>18</a:t>
                      </a:r>
                    </a:p>
                  </a:txBody>
                  <a:tcPr anchor="ctr"/>
                </a:tc>
                <a:tc>
                  <a:txBody>
                    <a:bodyPr/>
                    <a:lstStyle/>
                    <a:p>
                      <a:pPr algn="ctr"/>
                      <a:r>
                        <a:rPr lang="en-US" dirty="0"/>
                        <a:t>3</a:t>
                      </a:r>
                    </a:p>
                  </a:txBody>
                  <a:tcPr anchor="ctr"/>
                </a:tc>
                <a:extLst>
                  <a:ext uri="{0D108BD9-81ED-4DB2-BD59-A6C34878D82A}">
                    <a16:rowId xmlns:a16="http://schemas.microsoft.com/office/drawing/2014/main" val="1213236019"/>
                  </a:ext>
                </a:extLst>
              </a:tr>
              <a:tr h="273191">
                <a:tc>
                  <a:txBody>
                    <a:bodyPr/>
                    <a:lstStyle/>
                    <a:p>
                      <a:r>
                        <a:rPr lang="en-US" dirty="0"/>
                        <a:t>Clear TX License Plate</a:t>
                      </a:r>
                    </a:p>
                  </a:txBody>
                  <a:tcPr/>
                </a:tc>
                <a:tc>
                  <a:txBody>
                    <a:bodyPr/>
                    <a:lstStyle/>
                    <a:p>
                      <a:pPr algn="ctr"/>
                      <a:r>
                        <a:rPr lang="en-US" dirty="0"/>
                        <a:t>14</a:t>
                      </a:r>
                    </a:p>
                  </a:txBody>
                  <a:tcPr anchor="ctr"/>
                </a:tc>
                <a:tc>
                  <a:txBody>
                    <a:bodyPr/>
                    <a:lstStyle/>
                    <a:p>
                      <a:pPr algn="ctr"/>
                      <a:r>
                        <a:rPr lang="en-US" dirty="0"/>
                        <a:t>7</a:t>
                      </a:r>
                    </a:p>
                  </a:txBody>
                  <a:tcPr anchor="ctr"/>
                </a:tc>
                <a:tc>
                  <a:txBody>
                    <a:bodyPr/>
                    <a:lstStyle/>
                    <a:p>
                      <a:pPr algn="ctr"/>
                      <a:r>
                        <a:rPr lang="en-US" dirty="0"/>
                        <a:t>7</a:t>
                      </a:r>
                    </a:p>
                  </a:txBody>
                  <a:tcPr anchor="ctr"/>
                </a:tc>
                <a:extLst>
                  <a:ext uri="{0D108BD9-81ED-4DB2-BD59-A6C34878D82A}">
                    <a16:rowId xmlns:a16="http://schemas.microsoft.com/office/drawing/2014/main" val="4286374641"/>
                  </a:ext>
                </a:extLst>
              </a:tr>
              <a:tr h="273191">
                <a:tc>
                  <a:txBody>
                    <a:bodyPr/>
                    <a:lstStyle/>
                    <a:p>
                      <a:r>
                        <a:rPr lang="en-US" dirty="0"/>
                        <a:t>Selected Non-License Plate Data</a:t>
                      </a:r>
                    </a:p>
                  </a:txBody>
                  <a:tcPr/>
                </a:tc>
                <a:tc>
                  <a:txBody>
                    <a:bodyPr/>
                    <a:lstStyle/>
                    <a:p>
                      <a:pPr algn="ctr"/>
                      <a:r>
                        <a:rPr lang="en-US" dirty="0"/>
                        <a:t>3</a:t>
                      </a:r>
                    </a:p>
                  </a:txBody>
                  <a:tcPr anchor="ctr"/>
                </a:tc>
                <a:tc>
                  <a:txBody>
                    <a:bodyPr/>
                    <a:lstStyle/>
                    <a:p>
                      <a:pPr algn="ctr"/>
                      <a:r>
                        <a:rPr lang="en-US" dirty="0"/>
                        <a:t>2</a:t>
                      </a:r>
                    </a:p>
                  </a:txBody>
                  <a:tcPr anchor="ctr"/>
                </a:tc>
                <a:tc>
                  <a:txBody>
                    <a:bodyPr/>
                    <a:lstStyle/>
                    <a:p>
                      <a:pPr algn="ctr"/>
                      <a:r>
                        <a:rPr lang="en-US" dirty="0"/>
                        <a:t>1</a:t>
                      </a:r>
                    </a:p>
                  </a:txBody>
                  <a:tcPr anchor="ctr"/>
                </a:tc>
                <a:extLst>
                  <a:ext uri="{0D108BD9-81ED-4DB2-BD59-A6C34878D82A}">
                    <a16:rowId xmlns:a16="http://schemas.microsoft.com/office/drawing/2014/main" val="286231254"/>
                  </a:ext>
                </a:extLst>
              </a:tr>
              <a:tr h="273191">
                <a:tc>
                  <a:txBody>
                    <a:bodyPr/>
                    <a:lstStyle/>
                    <a:p>
                      <a:r>
                        <a:rPr lang="en-US" dirty="0"/>
                        <a:t>Foreign License Plate</a:t>
                      </a:r>
                    </a:p>
                  </a:txBody>
                  <a:tcPr/>
                </a:tc>
                <a:tc>
                  <a:txBody>
                    <a:bodyPr/>
                    <a:lstStyle/>
                    <a:p>
                      <a:pPr algn="ctr"/>
                      <a:r>
                        <a:rPr lang="en-US" dirty="0"/>
                        <a:t>4</a:t>
                      </a:r>
                    </a:p>
                  </a:txBody>
                  <a:tcPr anchor="ctr"/>
                </a:tc>
                <a:tc>
                  <a:txBody>
                    <a:bodyPr/>
                    <a:lstStyle/>
                    <a:p>
                      <a:pPr algn="ctr"/>
                      <a:r>
                        <a:rPr lang="en-US" dirty="0"/>
                        <a:t>1</a:t>
                      </a:r>
                    </a:p>
                  </a:txBody>
                  <a:tcPr anchor="ctr"/>
                </a:tc>
                <a:tc>
                  <a:txBody>
                    <a:bodyPr/>
                    <a:lstStyle/>
                    <a:p>
                      <a:pPr algn="ctr"/>
                      <a:r>
                        <a:rPr lang="en-US" dirty="0"/>
                        <a:t>3</a:t>
                      </a:r>
                    </a:p>
                  </a:txBody>
                  <a:tcPr anchor="ctr"/>
                </a:tc>
                <a:extLst>
                  <a:ext uri="{0D108BD9-81ED-4DB2-BD59-A6C34878D82A}">
                    <a16:rowId xmlns:a16="http://schemas.microsoft.com/office/drawing/2014/main" val="2051413032"/>
                  </a:ext>
                </a:extLst>
              </a:tr>
            </a:tbl>
          </a:graphicData>
        </a:graphic>
      </p:graphicFrame>
      <p:sp>
        <p:nvSpPr>
          <p:cNvPr id="6" name="Rectangle 5">
            <a:extLst>
              <a:ext uri="{FF2B5EF4-FFF2-40B4-BE49-F238E27FC236}">
                <a16:creationId xmlns:a16="http://schemas.microsoft.com/office/drawing/2014/main" id="{FCBD9B20-4A32-A3B5-DA89-011CF7C102C7}"/>
              </a:ext>
            </a:extLst>
          </p:cNvPr>
          <p:cNvSpPr/>
          <p:nvPr/>
        </p:nvSpPr>
        <p:spPr>
          <a:xfrm>
            <a:off x="1651000" y="762000"/>
            <a:ext cx="4236544" cy="923330"/>
          </a:xfrm>
          <a:prstGeom prst="rect">
            <a:avLst/>
          </a:prstGeom>
          <a:noFill/>
        </p:spPr>
        <p:txBody>
          <a:bodyPr wrap="non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Actual Results</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extLst>
              <a:ext uri="{28A0092B-C50C-407E-A947-70E740481C1C}">
                <a14:useLocalDpi xmlns:a14="http://schemas.microsoft.com/office/drawing/2010/main" val="0"/>
              </a:ext>
            </a:extLst>
          </a:blip>
          <a:srcRect/>
          <a:stretch/>
        </p:blipFill>
        <p:spPr>
          <a:xfrm>
            <a:off x="4762" y="38100"/>
            <a:ext cx="16246475"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A64CE-1AC6-07C5-0237-F3C24B885A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8D2D4A-0019-DD70-4F2D-673932F125F4}"/>
              </a:ext>
            </a:extLst>
          </p:cNvPr>
          <p:cNvSpPr txBox="1"/>
          <p:nvPr/>
        </p:nvSpPr>
        <p:spPr>
          <a:xfrm>
            <a:off x="1193800" y="1524000"/>
            <a:ext cx="11049000" cy="1477328"/>
          </a:xfrm>
          <a:prstGeom prst="rect">
            <a:avLst/>
          </a:prstGeom>
          <a:noFill/>
        </p:spPr>
        <p:txBody>
          <a:bodyPr wrap="square" rtlCol="0">
            <a:spAutoFit/>
          </a:bodyPr>
          <a:lstStyle/>
          <a:p>
            <a:r>
              <a:rPr lang="en-US" dirty="0"/>
              <a:t>All documentation, files and code are available in GitHub.</a:t>
            </a:r>
          </a:p>
          <a:p>
            <a:endParaRPr lang="en-US" dirty="0"/>
          </a:p>
          <a:p>
            <a:endParaRPr lang="en-US" dirty="0"/>
          </a:p>
          <a:p>
            <a:r>
              <a:rPr lang="en-US" dirty="0">
                <a:hlinkClick r:id="rId3"/>
              </a:rPr>
              <a:t>https://github.com/rfox7/Rich_Fox_-_AI-Portfolio/tree/main/Computer%20Vision/Object_Detection_Project</a:t>
            </a:r>
            <a:endParaRPr lang="en-US" dirty="0"/>
          </a:p>
          <a:p>
            <a:endParaRPr lang="en-US" dirty="0"/>
          </a:p>
        </p:txBody>
      </p:sp>
    </p:spTree>
    <p:extLst>
      <p:ext uri="{BB962C8B-B14F-4D97-AF65-F5344CB8AC3E}">
        <p14:creationId xmlns:p14="http://schemas.microsoft.com/office/powerpoint/2010/main" val="2598274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65364-ED86-A911-2516-1710A642A0A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3B9909E-CAE5-BC07-F061-600A892C7202}"/>
              </a:ext>
            </a:extLst>
          </p:cNvPr>
          <p:cNvSpPr/>
          <p:nvPr/>
        </p:nvSpPr>
        <p:spPr>
          <a:xfrm>
            <a:off x="469900" y="2563758"/>
            <a:ext cx="15316200" cy="4016484"/>
          </a:xfrm>
          <a:prstGeom prst="rect">
            <a:avLst/>
          </a:prstGeom>
          <a:noFill/>
        </p:spPr>
        <p:txBody>
          <a:bodyPr wrap="square" lIns="91440" tIns="45720" rIns="91440" bIns="45720">
            <a:spAutoFit/>
          </a:bodyPr>
          <a:lstStyle/>
          <a:p>
            <a:pPr algn="ctr"/>
            <a:r>
              <a:rPr lang="en-US" sz="255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Questions?</a:t>
            </a:r>
          </a:p>
        </p:txBody>
      </p:sp>
    </p:spTree>
    <p:extLst>
      <p:ext uri="{BB962C8B-B14F-4D97-AF65-F5344CB8AC3E}">
        <p14:creationId xmlns:p14="http://schemas.microsoft.com/office/powerpoint/2010/main" val="2520599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988e174-2ce8-4d8b-843a-cab03a445153}" enabled="1" method="Privileged" siteId="{60970b94-e7fb-4b69-b637-2cb121e1b596}" contentBits="0" removed="0"/>
</clbl:labelList>
</file>

<file path=docProps/app.xml><?xml version="1.0" encoding="utf-8"?>
<Properties xmlns="http://schemas.openxmlformats.org/officeDocument/2006/extended-properties" xmlns:vt="http://schemas.openxmlformats.org/officeDocument/2006/docPropsVTypes">
  <TotalTime>354</TotalTime>
  <Words>778</Words>
  <Application>Microsoft Office PowerPoint</Application>
  <PresentationFormat>Custom</PresentationFormat>
  <Paragraphs>57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Fox, Rich</dc:creator>
  <cp:lastModifiedBy>Fox, Rich</cp:lastModifiedBy>
  <cp:revision>7</cp:revision>
  <dcterms:created xsi:type="dcterms:W3CDTF">2006-08-16T00:00:00Z</dcterms:created>
  <dcterms:modified xsi:type="dcterms:W3CDTF">2026-05-09T00:10:07Z</dcterms:modified>
</cp:coreProperties>
</file>